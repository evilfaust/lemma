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241280" y="-640080"/>
            <a:ext cx="2926080" cy="2926080"/>
          </a:xfrm>
          <a:prstGeom prst="ellipse">
            <a:avLst/>
          </a:prstGeom>
          <a:solidFill>
            <a:srgbClr val="833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05840" y="4754880"/>
            <a:ext cx="2926080" cy="2926080"/>
          </a:xfrm>
          <a:prstGeom prst="ellipse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640080"/>
            <a:ext cx="4023360" cy="502920"/>
          </a:xfrm>
          <a:prstGeom prst="roundRect">
            <a:avLst/>
          </a:prstGeom>
          <a:solidFill>
            <a:srgbClr val="151A2E"/>
          </a:solidFill>
          <a:ln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0F5D4"/>
                </a:solidFill>
              </a:rPr>
              <a:t>EGE TASKS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8992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000" b="1">
                <a:solidFill>
                  <a:srgbClr val="EFF2FF"/>
                </a:solidFill>
              </a:rPr>
              <a:t>EGE Tasks</a:t>
            </a:r>
          </a:p>
          <a:p>
            <a:pPr>
              <a:defRPr sz="2200">
                <a:solidFill>
                  <a:srgbClr val="AEBBD6"/>
                </a:solidFill>
              </a:defRPr>
            </a:pPr>
            <a:r>
              <a:t>Презентация по лендингу и странице «Как это работает»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892040"/>
            <a:ext cx="10789920" cy="1097280"/>
          </a:xfrm>
          <a:prstGeom prst="roundRect">
            <a:avLst/>
          </a:prstGeom>
          <a:solidFill>
            <a:srgbClr val="151A2E"/>
          </a:solidFill>
          <a:ln>
            <a:solidFill>
              <a:srgbClr val="833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EFF2FF"/>
                </a:solidFill>
              </a:defRPr>
            </a:pPr>
            <a:r>
              <a:t>Порядок: 1) Лендинг  2) Как это работает    |    Дата: 2026-03-01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241280" y="-640080"/>
            <a:ext cx="2926080" cy="2926080"/>
          </a:xfrm>
          <a:prstGeom prst="ellipse">
            <a:avLst/>
          </a:prstGeom>
          <a:solidFill>
            <a:srgbClr val="833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05840" y="4754880"/>
            <a:ext cx="2926080" cy="2926080"/>
          </a:xfrm>
          <a:prstGeom prst="ellipse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8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31089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F5D4"/>
                </a:solidFill>
              </a:defRPr>
            </a:pPr>
            <a:r>
              <a:t>ЛЕНДИНГ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FF2FF"/>
                </a:solidFill>
              </a:defRPr>
            </a:pPr>
            <a:r>
              <a:t>Hero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10789920" cy="4526280"/>
          </a:xfrm>
          <a:prstGeom prst="roundRect">
            <a:avLst/>
          </a:prstGeom>
          <a:solidFill>
            <a:srgbClr val="151A2E"/>
          </a:solidFill>
          <a:ln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200">
                <a:solidFill>
                  <a:srgbClr val="EFF2FF"/>
                </a:solidFill>
              </a:defRPr>
            </a:pPr>
            <a:r>
              <a:t>7000+ задач, генератор работ за секунды, тестирование по QR-коду</a:t>
            </a:r>
          </a:p>
          <a:p>
            <a:pPr>
              <a:spcAft>
                <a:spcPts val="800"/>
              </a:spcAft>
              <a:defRPr sz="2200">
                <a:solidFill>
                  <a:srgbClr val="AEBBD6"/>
                </a:solidFill>
              </a:defRPr>
            </a:pPr>
            <a:r>
              <a:t>Ключевое сообщение: «0 рутины» для учителя математики</a:t>
            </a:r>
          </a:p>
          <a:p>
            <a:pPr>
              <a:spcAft>
                <a:spcPts val="800"/>
              </a:spcAft>
              <a:defRPr sz="2200">
                <a:solidFill>
                  <a:srgbClr val="AEBBD6"/>
                </a:solidFill>
              </a:defRPr>
            </a:pPr>
            <a:r>
              <a:t>Призыв: открыть платформу и перейти к возможностям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241280" y="-640080"/>
            <a:ext cx="2926080" cy="2926080"/>
          </a:xfrm>
          <a:prstGeom prst="ellipse">
            <a:avLst/>
          </a:prstGeom>
          <a:solidFill>
            <a:srgbClr val="833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05840" y="4754880"/>
            <a:ext cx="2926080" cy="2926080"/>
          </a:xfrm>
          <a:prstGeom prst="ellipse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8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31089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006E"/>
                </a:solidFill>
              </a:defRPr>
            </a:pPr>
            <a:r>
              <a:t>ЛЕНДИНГ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FF2FF"/>
                </a:solidFill>
              </a:defRPr>
            </a:pPr>
            <a:r>
              <a:t>Stats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10789920" cy="4526280"/>
          </a:xfrm>
          <a:prstGeom prst="roundRect">
            <a:avLst/>
          </a:prstGeom>
          <a:solidFill>
            <a:srgbClr val="151A2E"/>
          </a:solidFill>
          <a:ln>
            <a:solidFill>
              <a:srgbClr val="FF0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200">
                <a:solidFill>
                  <a:srgbClr val="EFF2FF"/>
                </a:solidFill>
              </a:defRPr>
            </a:pPr>
            <a:r>
              <a:t>Ключевые цифры продукта: база задач, достижения, генераторы и скорость подготовки</a:t>
            </a:r>
          </a:p>
          <a:p>
            <a:pPr>
              <a:spcAft>
                <a:spcPts val="800"/>
              </a:spcAft>
              <a:defRPr sz="2200">
                <a:solidFill>
                  <a:srgbClr val="AEBBD6"/>
                </a:solidFill>
              </a:defRPr>
            </a:pPr>
            <a:r>
              <a:t>Визуальная подача через крупные счётчики и анимированный reveal</a:t>
            </a:r>
          </a:p>
          <a:p>
            <a:pPr>
              <a:spcAft>
                <a:spcPts val="800"/>
              </a:spcAft>
              <a:defRPr sz="2200">
                <a:solidFill>
                  <a:srgbClr val="AEBBD6"/>
                </a:solidFill>
              </a:defRPr>
            </a:pPr>
            <a:r>
              <a:t>Секция служит быстрым proof-value в начале воронки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241280" y="-640080"/>
            <a:ext cx="2926080" cy="2926080"/>
          </a:xfrm>
          <a:prstGeom prst="ellipse">
            <a:avLst/>
          </a:prstGeom>
          <a:solidFill>
            <a:srgbClr val="833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05840" y="4754880"/>
            <a:ext cx="2926080" cy="2926080"/>
          </a:xfrm>
          <a:prstGeom prst="ellipse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8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31089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8338EC"/>
                </a:solidFill>
              </a:defRPr>
            </a:pPr>
            <a:r>
              <a:t>ЛЕНДИНГ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FF2FF"/>
                </a:solidFill>
              </a:defRPr>
            </a:pPr>
            <a:r>
              <a:t>Features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10789920" cy="4526280"/>
          </a:xfrm>
          <a:prstGeom prst="roundRect">
            <a:avLst/>
          </a:prstGeom>
          <a:solidFill>
            <a:srgbClr val="151A2E"/>
          </a:solidFill>
          <a:ln>
            <a:solidFill>
              <a:srgbClr val="833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200">
                <a:solidFill>
                  <a:srgbClr val="EFF2FF"/>
                </a:solidFill>
              </a:defRPr>
            </a:pPr>
            <a:r>
              <a:t>База задач: LaTeX, фильтры, уровни сложности</a:t>
            </a:r>
          </a:p>
          <a:p>
            <a:pPr>
              <a:spcAft>
                <a:spcPts val="800"/>
              </a:spcAft>
              <a:defRPr sz="2200">
                <a:solidFill>
                  <a:srgbClr val="AEBBD6"/>
                </a:solidFill>
              </a:defRPr>
            </a:pPr>
            <a:r>
              <a:t>Генератор работ: карточки/контрольные/устный счёт + PDF</a:t>
            </a:r>
          </a:p>
          <a:p>
            <a:pPr>
              <a:spcAft>
                <a:spcPts val="800"/>
              </a:spcAft>
              <a:defRPr sz="2200">
                <a:solidFill>
                  <a:srgbClr val="AEBBD6"/>
                </a:solidFill>
              </a:defRPr>
            </a:pPr>
            <a:r>
              <a:t>Тестирование: QR-сессии, автопроверка, онлайн-результат</a:t>
            </a:r>
          </a:p>
          <a:p>
            <a:pPr>
              <a:spcAft>
                <a:spcPts val="800"/>
              </a:spcAft>
              <a:defRPr sz="2200">
                <a:solidFill>
                  <a:srgbClr val="AEBBD6"/>
                </a:solidFill>
              </a:defRPr>
            </a:pPr>
            <a:r>
              <a:t>Отдельный акцент на геймификацию и коллекцию достижений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241280" y="-640080"/>
            <a:ext cx="2926080" cy="2926080"/>
          </a:xfrm>
          <a:prstGeom prst="ellipse">
            <a:avLst/>
          </a:prstGeom>
          <a:solidFill>
            <a:srgbClr val="833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05840" y="4754880"/>
            <a:ext cx="2926080" cy="2926080"/>
          </a:xfrm>
          <a:prstGeom prst="ellipse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8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31089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B5607"/>
                </a:solidFill>
              </a:defRPr>
            </a:pPr>
            <a:r>
              <a:t>ЛЕНДИНГ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FF2FF"/>
                </a:solidFill>
              </a:defRPr>
            </a:pPr>
            <a:r>
              <a:t>Progress Insights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10789920" cy="4526280"/>
          </a:xfrm>
          <a:prstGeom prst="roundRect">
            <a:avLst/>
          </a:prstGeom>
          <a:solidFill>
            <a:srgbClr val="151A2E"/>
          </a:solidFill>
          <a:ln>
            <a:solidFill>
              <a:srgbClr val="FB56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200">
                <a:solidFill>
                  <a:srgbClr val="EFF2FF"/>
                </a:solidFill>
              </a:defRPr>
            </a:pPr>
            <a:r>
              <a:t>Учитель видит динамику по попыткам, а не только итоговый балл</a:t>
            </a:r>
          </a:p>
          <a:p>
            <a:pPr>
              <a:spcAft>
                <a:spcPts val="800"/>
              </a:spcAft>
              <a:defRPr sz="2200">
                <a:solidFill>
                  <a:srgbClr val="AEBBD6"/>
                </a:solidFill>
              </a:defRPr>
            </a:pPr>
            <a:r>
              <a:t>Проблемные задачи выделяются автоматически</a:t>
            </a:r>
          </a:p>
          <a:p>
            <a:pPr>
              <a:spcAft>
                <a:spcPts val="800"/>
              </a:spcAft>
              <a:defRPr sz="2200">
                <a:solidFill>
                  <a:srgbClr val="AEBBD6"/>
                </a:solidFill>
              </a:defRPr>
            </a:pPr>
            <a:r>
              <a:t>Поддержка адресной доработки для конкретных учеников и тем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241280" y="-640080"/>
            <a:ext cx="2926080" cy="2926080"/>
          </a:xfrm>
          <a:prstGeom prst="ellipse">
            <a:avLst/>
          </a:prstGeom>
          <a:solidFill>
            <a:srgbClr val="833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05840" y="4754880"/>
            <a:ext cx="2926080" cy="2926080"/>
          </a:xfrm>
          <a:prstGeom prst="ellipse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8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31089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F5D4"/>
                </a:solidFill>
              </a:defRPr>
            </a:pPr>
            <a:r>
              <a:t>ЛЕНДИНГ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FF2FF"/>
                </a:solidFill>
              </a:defRPr>
            </a:pPr>
            <a:r>
              <a:t>Timeline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10789920" cy="4526280"/>
          </a:xfrm>
          <a:prstGeom prst="roundRect">
            <a:avLst/>
          </a:prstGeom>
          <a:solidFill>
            <a:srgbClr val="151A2E"/>
          </a:solidFill>
          <a:ln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200">
                <a:solidFill>
                  <a:srgbClr val="EFF2FF"/>
                </a:solidFill>
              </a:defRPr>
            </a:pPr>
            <a:r>
              <a:t>4 шага: выбрать задачи → сгенерировать работу → выдать ученикам → получить аналитику</a:t>
            </a:r>
          </a:p>
          <a:p>
            <a:pPr>
              <a:spcAft>
                <a:spcPts val="800"/>
              </a:spcAft>
              <a:defRPr sz="2200">
                <a:solidFill>
                  <a:srgbClr val="AEBBD6"/>
                </a:solidFill>
              </a:defRPr>
            </a:pPr>
            <a:r>
              <a:t>Понятный сценарий первого использования без обучения</a:t>
            </a:r>
          </a:p>
          <a:p>
            <a:pPr>
              <a:spcAft>
                <a:spcPts val="800"/>
              </a:spcAft>
              <a:defRPr sz="2200">
                <a:solidFill>
                  <a:srgbClr val="AEBBD6"/>
                </a:solidFill>
              </a:defRPr>
            </a:pPr>
            <a:r>
              <a:t>Секция закрывает вопрос «как начать за 1 урок»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241280" y="-640080"/>
            <a:ext cx="2926080" cy="2926080"/>
          </a:xfrm>
          <a:prstGeom prst="ellipse">
            <a:avLst/>
          </a:prstGeom>
          <a:solidFill>
            <a:srgbClr val="833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05840" y="4754880"/>
            <a:ext cx="2926080" cy="2926080"/>
          </a:xfrm>
          <a:prstGeom prst="ellipse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8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31089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006E"/>
                </a:solidFill>
              </a:defRPr>
            </a:pPr>
            <a:r>
              <a:t>ЛЕНДИНГ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FF2FF"/>
                </a:solidFill>
              </a:defRPr>
            </a:pPr>
            <a:r>
              <a:t>Student Experience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10789920" cy="4526280"/>
          </a:xfrm>
          <a:prstGeom prst="roundRect">
            <a:avLst/>
          </a:prstGeom>
          <a:solidFill>
            <a:srgbClr val="151A2E"/>
          </a:solidFill>
          <a:ln>
            <a:solidFill>
              <a:srgbClr val="FF0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200">
                <a:solidFill>
                  <a:srgbClr val="EFF2FF"/>
                </a:solidFill>
              </a:defRPr>
            </a:pPr>
            <a:r>
              <a:t>Mobile-first интерфейс ученика: чисто и без лишнего</a:t>
            </a:r>
          </a:p>
          <a:p>
            <a:pPr>
              <a:spcAft>
                <a:spcPts val="800"/>
              </a:spcAft>
              <a:defRPr sz="2200">
                <a:solidFill>
                  <a:srgbClr val="AEBBD6"/>
                </a:solidFill>
              </a:defRPr>
            </a:pPr>
            <a:r>
              <a:t>Вход по ссылке/QR-коду и автосохранение ответов</a:t>
            </a:r>
          </a:p>
          <a:p>
            <a:pPr>
              <a:spcAft>
                <a:spcPts val="800"/>
              </a:spcAft>
              <a:defRPr sz="2200">
                <a:solidFill>
                  <a:srgbClr val="AEBBD6"/>
                </a:solidFill>
              </a:defRPr>
            </a:pPr>
            <a:r>
              <a:t>Мгновенный результат после отправки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241280" y="-640080"/>
            <a:ext cx="2926080" cy="2926080"/>
          </a:xfrm>
          <a:prstGeom prst="ellipse">
            <a:avLst/>
          </a:prstGeom>
          <a:solidFill>
            <a:srgbClr val="833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05840" y="4754880"/>
            <a:ext cx="2926080" cy="2926080"/>
          </a:xfrm>
          <a:prstGeom prst="ellipse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8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31089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8338EC"/>
                </a:solidFill>
              </a:defRPr>
            </a:pPr>
            <a:r>
              <a:t>ЛЕНДИНГ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FF2FF"/>
                </a:solidFill>
              </a:defRPr>
            </a:pPr>
            <a:r>
              <a:t>Achievements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10789920" cy="4526280"/>
          </a:xfrm>
          <a:prstGeom prst="roundRect">
            <a:avLst/>
          </a:prstGeom>
          <a:solidFill>
            <a:srgbClr val="151A2E"/>
          </a:solidFill>
          <a:ln>
            <a:solidFill>
              <a:srgbClr val="833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200">
                <a:solidFill>
                  <a:srgbClr val="EFF2FF"/>
                </a:solidFill>
              </a:defRPr>
            </a:pPr>
            <a:r>
              <a:t>72+ достижений трёх уровней редкости: common/rare/legendary</a:t>
            </a:r>
          </a:p>
          <a:p>
            <a:pPr>
              <a:spcAft>
                <a:spcPts val="800"/>
              </a:spcAft>
              <a:defRPr sz="2200">
                <a:solidFill>
                  <a:srgbClr val="AEBBD6"/>
                </a:solidFill>
              </a:defRPr>
            </a:pPr>
            <a:r>
              <a:t>Геймификация повышает вовлечённость и частоту тренировок</a:t>
            </a:r>
          </a:p>
          <a:p>
            <a:pPr>
              <a:spcAft>
                <a:spcPts val="800"/>
              </a:spcAft>
              <a:defRPr sz="2200">
                <a:solidFill>
                  <a:srgbClr val="AEBBD6"/>
                </a:solidFill>
              </a:defRPr>
            </a:pPr>
            <a:r>
              <a:t>Коллекционный эффект удерживает учеников в системе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241280" y="-640080"/>
            <a:ext cx="2926080" cy="2926080"/>
          </a:xfrm>
          <a:prstGeom prst="ellipse">
            <a:avLst/>
          </a:prstGeom>
          <a:solidFill>
            <a:srgbClr val="833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05840" y="4754880"/>
            <a:ext cx="2926080" cy="2926080"/>
          </a:xfrm>
          <a:prstGeom prst="ellipse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8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31089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B5607"/>
                </a:solidFill>
              </a:defRPr>
            </a:pPr>
            <a:r>
              <a:t>ЛЕНДИНГ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FF2FF"/>
                </a:solidFill>
              </a:defRPr>
            </a:pPr>
            <a:r>
              <a:t>Testimonials + CTA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10789920" cy="4526280"/>
          </a:xfrm>
          <a:prstGeom prst="roundRect">
            <a:avLst/>
          </a:prstGeom>
          <a:solidFill>
            <a:srgbClr val="151A2E"/>
          </a:solidFill>
          <a:ln>
            <a:solidFill>
              <a:srgbClr val="FB56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200">
                <a:solidFill>
                  <a:srgbClr val="EFF2FF"/>
                </a:solidFill>
              </a:defRPr>
            </a:pPr>
            <a:r>
              <a:t>Позиционирование: продукт создан учителем для учителей</a:t>
            </a:r>
          </a:p>
          <a:p>
            <a:pPr>
              <a:spcAft>
                <a:spcPts val="800"/>
              </a:spcAft>
              <a:defRPr sz="2200">
                <a:solidFill>
                  <a:srgbClr val="AEBBD6"/>
                </a:solidFill>
              </a:defRPr>
            </a:pPr>
            <a:r>
              <a:t>Финальный checklist возможностей перед конверсией</a:t>
            </a:r>
          </a:p>
          <a:p>
            <a:pPr>
              <a:spcAft>
                <a:spcPts val="800"/>
              </a:spcAft>
              <a:defRPr sz="2200">
                <a:solidFill>
                  <a:srgbClr val="AEBBD6"/>
                </a:solidFill>
              </a:defRPr>
            </a:pPr>
            <a:r>
              <a:t>CTA: открыть платформу бесплатно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241280" y="-640080"/>
            <a:ext cx="2926080" cy="2926080"/>
          </a:xfrm>
          <a:prstGeom prst="ellipse">
            <a:avLst/>
          </a:prstGeom>
          <a:solidFill>
            <a:srgbClr val="833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05840" y="4754880"/>
            <a:ext cx="2926080" cy="2926080"/>
          </a:xfrm>
          <a:prstGeom prst="ellipse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31720"/>
            <a:ext cx="12191695" cy="2194560"/>
          </a:xfrm>
          <a:prstGeom prst="rect">
            <a:avLst/>
          </a:prstGeom>
          <a:solidFill>
            <a:srgbClr val="10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697480"/>
            <a:ext cx="107899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EFF2FF"/>
                </a:solidFill>
              </a:defRPr>
            </a:pPr>
            <a:r>
              <a:t>Часть 2: Как это работает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241280" y="-640080"/>
            <a:ext cx="2926080" cy="2926080"/>
          </a:xfrm>
          <a:prstGeom prst="ellipse">
            <a:avLst/>
          </a:prstGeom>
          <a:solidFill>
            <a:srgbClr val="833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05840" y="4754880"/>
            <a:ext cx="2926080" cy="2926080"/>
          </a:xfrm>
          <a:prstGeom prst="ellipse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8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31089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F5D4"/>
                </a:solidFill>
              </a:defRPr>
            </a:pPr>
            <a:r>
              <a:t>КАК ЭТО РАБОТАЕТ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FF2FF"/>
                </a:solidFill>
              </a:defRPr>
            </a:pPr>
            <a:r>
              <a:t>Обзор платформы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10789920" cy="4526280"/>
          </a:xfrm>
          <a:prstGeom prst="roundRect">
            <a:avLst/>
          </a:prstGeom>
          <a:solidFill>
            <a:srgbClr val="151A2E"/>
          </a:solidFill>
          <a:ln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200">
                <a:solidFill>
                  <a:srgbClr val="EFF2FF"/>
                </a:solidFill>
              </a:defRPr>
            </a:pPr>
            <a:r>
              <a:t>Единая веб-платформа для полного цикла: от базы задач до анализа результатов</a:t>
            </a:r>
          </a:p>
          <a:p>
            <a:pPr>
              <a:spcAft>
                <a:spcPts val="800"/>
              </a:spcAft>
              <a:defRPr sz="2200">
                <a:solidFill>
                  <a:srgbClr val="AEBBD6"/>
                </a:solidFill>
              </a:defRPr>
            </a:pPr>
            <a:r>
              <a:t>Три изолированных интерфейса: учитель, ученик, промо-лендинг</a:t>
            </a:r>
          </a:p>
          <a:p>
            <a:pPr>
              <a:spcAft>
                <a:spcPts val="800"/>
              </a:spcAft>
              <a:defRPr sz="2200">
                <a:solidFill>
                  <a:srgbClr val="AEBBD6"/>
                </a:solidFill>
              </a:defRPr>
            </a:pPr>
            <a:r>
              <a:t>Версия и сборка отображаются в hero-части страницы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241280" y="-640080"/>
            <a:ext cx="2926080" cy="2926080"/>
          </a:xfrm>
          <a:prstGeom prst="ellipse">
            <a:avLst/>
          </a:prstGeom>
          <a:solidFill>
            <a:srgbClr val="833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05840" y="4754880"/>
            <a:ext cx="2926080" cy="2926080"/>
          </a:xfrm>
          <a:prstGeom prst="ellipse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8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31089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006E"/>
                </a:solidFill>
              </a:defRPr>
            </a:pPr>
            <a:r>
              <a:t>КАК ЭТО РАБОТАЕТ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FF2FF"/>
                </a:solidFill>
              </a:defRPr>
            </a:pPr>
            <a:r>
              <a:t>Основные модули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10789920" cy="4526280"/>
          </a:xfrm>
          <a:prstGeom prst="roundRect">
            <a:avLst/>
          </a:prstGeom>
          <a:solidFill>
            <a:srgbClr val="151A2E"/>
          </a:solidFill>
          <a:ln>
            <a:solidFill>
              <a:srgbClr val="FF0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200">
                <a:solidFill>
                  <a:srgbClr val="EFF2FF"/>
                </a:solidFill>
              </a:defRPr>
            </a:pPr>
            <a:r>
              <a:t>Управление задачами, генераторы, контрольные, геометрия, теория</a:t>
            </a:r>
          </a:p>
          <a:p>
            <a:pPr>
              <a:spcAft>
                <a:spcPts val="800"/>
              </a:spcAft>
              <a:defRPr sz="2200">
                <a:solidFill>
                  <a:srgbClr val="AEBBD6"/>
                </a:solidFill>
              </a:defRPr>
            </a:pPr>
            <a:r>
              <a:t>Импорт/редактирование/фильтрация на уровне production-нагрузки</a:t>
            </a:r>
          </a:p>
          <a:p>
            <a:pPr>
              <a:spcAft>
                <a:spcPts val="800"/>
              </a:spcAft>
              <a:defRPr sz="2200">
                <a:solidFill>
                  <a:srgbClr val="AEBBD6"/>
                </a:solidFill>
              </a:defRPr>
            </a:pPr>
            <a:r>
              <a:t>Bento-структура подчёркивает модульность продукта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241280" y="-640080"/>
            <a:ext cx="2926080" cy="2926080"/>
          </a:xfrm>
          <a:prstGeom prst="ellipse">
            <a:avLst/>
          </a:prstGeom>
          <a:solidFill>
            <a:srgbClr val="833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05840" y="4754880"/>
            <a:ext cx="2926080" cy="2926080"/>
          </a:xfrm>
          <a:prstGeom prst="ellipse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8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31089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8338EC"/>
                </a:solidFill>
              </a:defRPr>
            </a:pPr>
            <a:r>
              <a:t>КАК ЭТО РАБОТАЕТ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FF2FF"/>
                </a:solidFill>
              </a:defRPr>
            </a:pPr>
            <a:r>
              <a:t>WorkEditor и аналитика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10789920" cy="4526280"/>
          </a:xfrm>
          <a:prstGeom prst="roundRect">
            <a:avLst/>
          </a:prstGeom>
          <a:solidFill>
            <a:srgbClr val="151A2E"/>
          </a:solidFill>
          <a:ln>
            <a:solidFill>
              <a:srgbClr val="833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200">
                <a:solidFill>
                  <a:srgbClr val="EFF2FF"/>
                </a:solidFill>
              </a:defRPr>
            </a:pPr>
            <a:r>
              <a:t>Редактор работ с drag&amp;drop, заменой задач и безопасным обновлением</a:t>
            </a:r>
          </a:p>
          <a:p>
            <a:pPr>
              <a:spcAft>
                <a:spcPts val="800"/>
              </a:spcAft>
              <a:defRPr sz="2200">
                <a:solidFill>
                  <a:srgbClr val="AEBBD6"/>
                </a:solidFill>
              </a:defRPr>
            </a:pPr>
            <a:r>
              <a:t>Дашборд статистики: темы, теги, источники, проблемные зоны</a:t>
            </a:r>
          </a:p>
          <a:p>
            <a:pPr>
              <a:spcAft>
                <a:spcPts val="800"/>
              </a:spcAft>
              <a:defRPr sz="2200">
                <a:solidFill>
                  <a:srgbClr val="AEBBD6"/>
                </a:solidFill>
              </a:defRPr>
            </a:pPr>
            <a:r>
              <a:t>Catalog + Stats работают через общий оптимизированный snapshot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241280" y="-640080"/>
            <a:ext cx="2926080" cy="2926080"/>
          </a:xfrm>
          <a:prstGeom prst="ellipse">
            <a:avLst/>
          </a:prstGeom>
          <a:solidFill>
            <a:srgbClr val="833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05840" y="4754880"/>
            <a:ext cx="2926080" cy="2926080"/>
          </a:xfrm>
          <a:prstGeom prst="ellipse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8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31089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B5607"/>
                </a:solidFill>
              </a:defRPr>
            </a:pPr>
            <a:r>
              <a:t>КАК ЭТО РАБОТАЕТ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FF2FF"/>
                </a:solidFill>
              </a:defRPr>
            </a:pPr>
            <a:r>
              <a:t>Интерфейсы учителя и ученика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10789920" cy="4526280"/>
          </a:xfrm>
          <a:prstGeom prst="roundRect">
            <a:avLst/>
          </a:prstGeom>
          <a:solidFill>
            <a:srgbClr val="151A2E"/>
          </a:solidFill>
          <a:ln>
            <a:solidFill>
              <a:srgbClr val="FB56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200">
                <a:solidFill>
                  <a:srgbClr val="EFF2FF"/>
                </a:solidFill>
              </a:defRPr>
            </a:pPr>
            <a:r>
              <a:t>Учитель: полная админ-панель создания и управления учебным процессом</a:t>
            </a:r>
          </a:p>
          <a:p>
            <a:pPr>
              <a:spcAft>
                <a:spcPts val="800"/>
              </a:spcAft>
              <a:defRPr sz="2200">
                <a:solidFill>
                  <a:srgbClr val="AEBBD6"/>
                </a:solidFill>
              </a:defRPr>
            </a:pPr>
            <a:r>
              <a:t>Ученик: отдельный mobile-first SPA на выделенном домене</a:t>
            </a:r>
          </a:p>
          <a:p>
            <a:pPr>
              <a:spcAft>
                <a:spcPts val="800"/>
              </a:spcAft>
              <a:defRPr sz="2200">
                <a:solidFill>
                  <a:srgbClr val="AEBBD6"/>
                </a:solidFill>
              </a:defRPr>
            </a:pPr>
            <a:r>
              <a:t>Общий слой shared/ для сервисов и утилит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241280" y="-640080"/>
            <a:ext cx="2926080" cy="2926080"/>
          </a:xfrm>
          <a:prstGeom prst="ellipse">
            <a:avLst/>
          </a:prstGeom>
          <a:solidFill>
            <a:srgbClr val="833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05840" y="4754880"/>
            <a:ext cx="2926080" cy="2926080"/>
          </a:xfrm>
          <a:prstGeom prst="ellipse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8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31089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F5D4"/>
                </a:solidFill>
              </a:defRPr>
            </a:pPr>
            <a:r>
              <a:t>КАК ЭТО РАБОТАЕТ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FF2FF"/>
                </a:solidFill>
              </a:defRPr>
            </a:pPr>
            <a:r>
              <a:t>Поток тестирования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10789920" cy="4526280"/>
          </a:xfrm>
          <a:prstGeom prst="roundRect">
            <a:avLst/>
          </a:prstGeom>
          <a:solidFill>
            <a:srgbClr val="151A2E"/>
          </a:solidFill>
          <a:ln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200">
                <a:solidFill>
                  <a:srgbClr val="EFF2FF"/>
                </a:solidFill>
              </a:defRPr>
            </a:pPr>
            <a:r>
              <a:t>Создание варианта → выдача сессии → прохождение → автопроверка → награды → анализ</a:t>
            </a:r>
          </a:p>
          <a:p>
            <a:pPr>
              <a:spcAft>
                <a:spcPts val="800"/>
              </a:spcAft>
              <a:defRPr sz="2200">
                <a:solidFill>
                  <a:srgbClr val="AEBBD6"/>
                </a:solidFill>
              </a:defRPr>
            </a:pPr>
            <a:r>
              <a:t>Round-robin распределение вариантов между учениками</a:t>
            </a:r>
          </a:p>
          <a:p>
            <a:pPr>
              <a:spcAft>
                <a:spcPts val="800"/>
              </a:spcAft>
              <a:defRPr sz="2200">
                <a:solidFill>
                  <a:srgbClr val="AEBBD6"/>
                </a:solidFill>
              </a:defRPr>
            </a:pPr>
            <a:r>
              <a:t>Сценарий покрывает как классные, так и домашние сессии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241280" y="-640080"/>
            <a:ext cx="2926080" cy="2926080"/>
          </a:xfrm>
          <a:prstGeom prst="ellipse">
            <a:avLst/>
          </a:prstGeom>
          <a:solidFill>
            <a:srgbClr val="833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05840" y="4754880"/>
            <a:ext cx="2926080" cy="2926080"/>
          </a:xfrm>
          <a:prstGeom prst="ellipse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8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31089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006E"/>
                </a:solidFill>
              </a:defRPr>
            </a:pPr>
            <a:r>
              <a:t>КАК ЭТО РАБОТАЕТ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FF2FF"/>
                </a:solidFill>
              </a:defRPr>
            </a:pPr>
            <a:r>
              <a:t>Система достижений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10789920" cy="4526280"/>
          </a:xfrm>
          <a:prstGeom prst="roundRect">
            <a:avLst/>
          </a:prstGeom>
          <a:solidFill>
            <a:srgbClr val="151A2E"/>
          </a:solidFill>
          <a:ln>
            <a:solidFill>
              <a:srgbClr val="FF0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200">
                <a:solidFill>
                  <a:srgbClr val="EFF2FF"/>
                </a:solidFill>
              </a:defRPr>
            </a:pPr>
            <a:r>
              <a:t>Random + условные достижения с дедупликацией по всем сессиям</a:t>
            </a:r>
          </a:p>
          <a:p>
            <a:pPr>
              <a:spcAft>
                <a:spcPts val="800"/>
              </a:spcAft>
              <a:defRPr sz="2200">
                <a:solidFill>
                  <a:srgbClr val="AEBBD6"/>
                </a:solidFill>
              </a:defRPr>
            </a:pPr>
            <a:r>
              <a:t>Градация по результату (legendary/rare/common) + специальные условия</a:t>
            </a:r>
          </a:p>
          <a:p>
            <a:pPr>
              <a:spcAft>
                <a:spcPts val="800"/>
              </a:spcAft>
              <a:defRPr sz="2200">
                <a:solidFill>
                  <a:srgbClr val="AEBBD6"/>
                </a:solidFill>
              </a:defRPr>
            </a:pPr>
            <a:r>
              <a:t>Учитель может вручную выдавать награды из панели результатов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241280" y="-640080"/>
            <a:ext cx="2926080" cy="2926080"/>
          </a:xfrm>
          <a:prstGeom prst="ellipse">
            <a:avLst/>
          </a:prstGeom>
          <a:solidFill>
            <a:srgbClr val="833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05840" y="4754880"/>
            <a:ext cx="2926080" cy="2926080"/>
          </a:xfrm>
          <a:prstGeom prst="ellipse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8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31089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8338EC"/>
                </a:solidFill>
              </a:defRPr>
            </a:pPr>
            <a:r>
              <a:t>КАК ЭТО РАБОТАЕТ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FF2FF"/>
                </a:solidFill>
              </a:defRPr>
            </a:pPr>
            <a:r>
              <a:t>Автопроверка ответов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10789920" cy="4526280"/>
          </a:xfrm>
          <a:prstGeom prst="roundRect">
            <a:avLst/>
          </a:prstGeom>
          <a:solidFill>
            <a:srgbClr val="151A2E"/>
          </a:solidFill>
          <a:ln>
            <a:solidFill>
              <a:srgbClr val="833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200">
                <a:solidFill>
                  <a:srgbClr val="EFF2FF"/>
                </a:solidFill>
              </a:defRPr>
            </a:pPr>
            <a:r>
              <a:t>Поддержка чисел, дробей, LaTeX-дробей и альтернатив через «|»</a:t>
            </a:r>
          </a:p>
          <a:p>
            <a:pPr>
              <a:spcAft>
                <a:spcPts val="800"/>
              </a:spcAft>
              <a:defRPr sz="2200">
                <a:solidFill>
                  <a:srgbClr val="AEBBD6"/>
                </a:solidFill>
              </a:defRPr>
            </a:pPr>
            <a:r>
              <a:t>Сравнение с epsilon=1e-6 для корректной математики</a:t>
            </a:r>
          </a:p>
          <a:p>
            <a:pPr>
              <a:spcAft>
                <a:spcPts val="800"/>
              </a:spcAft>
              <a:defRPr sz="2200">
                <a:solidFill>
                  <a:srgbClr val="AEBBD6"/>
                </a:solidFill>
              </a:defRPr>
            </a:pPr>
            <a:r>
              <a:t>Быстрый и предсказуемый feedback после отправки попытки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241280" y="-640080"/>
            <a:ext cx="2926080" cy="2926080"/>
          </a:xfrm>
          <a:prstGeom prst="ellipse">
            <a:avLst/>
          </a:prstGeom>
          <a:solidFill>
            <a:srgbClr val="833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05840" y="4754880"/>
            <a:ext cx="2926080" cy="2926080"/>
          </a:xfrm>
          <a:prstGeom prst="ellipse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8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31089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B5607"/>
                </a:solidFill>
              </a:defRPr>
            </a:pPr>
            <a:r>
              <a:t>КАК ЭТО РАБОТАЕТ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FF2FF"/>
                </a:solidFill>
              </a:defRPr>
            </a:pPr>
            <a:r>
              <a:t>PDF и импорт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10789920" cy="4526280"/>
          </a:xfrm>
          <a:prstGeom prst="roundRect">
            <a:avLst/>
          </a:prstGeom>
          <a:solidFill>
            <a:srgbClr val="151A2E"/>
          </a:solidFill>
          <a:ln>
            <a:solidFill>
              <a:srgbClr val="FB56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200">
                <a:solidFill>
                  <a:srgbClr val="EFF2FF"/>
                </a:solidFill>
              </a:defRPr>
            </a:pPr>
            <a:r>
              <a:t>PDF: основной канал через Puppeteer + fallback html2pdf.js</a:t>
            </a:r>
          </a:p>
          <a:p>
            <a:pPr>
              <a:spcAft>
                <a:spcPts val="800"/>
              </a:spcAft>
              <a:defRPr sz="2200">
                <a:solidFill>
                  <a:srgbClr val="AEBBD6"/>
                </a:solidFill>
              </a:defRPr>
            </a:pPr>
            <a:r>
              <a:t>Импорт задач из Markdown/YAML и источников sdamgia.ru</a:t>
            </a:r>
          </a:p>
          <a:p>
            <a:pPr>
              <a:spcAft>
                <a:spcPts val="800"/>
              </a:spcAft>
              <a:defRPr sz="2200">
                <a:solidFill>
                  <a:srgbClr val="AEBBD6"/>
                </a:solidFill>
              </a:defRPr>
            </a:pPr>
            <a:r>
              <a:t>Дополнительно: прокси для изображений и UI-создание задач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241280" y="-640080"/>
            <a:ext cx="2926080" cy="2926080"/>
          </a:xfrm>
          <a:prstGeom prst="ellipse">
            <a:avLst/>
          </a:prstGeom>
          <a:solidFill>
            <a:srgbClr val="833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05840" y="4754880"/>
            <a:ext cx="2926080" cy="2926080"/>
          </a:xfrm>
          <a:prstGeom prst="ellipse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8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31089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F5D4"/>
                </a:solidFill>
              </a:defRPr>
            </a:pPr>
            <a:r>
              <a:t>КАК ЭТО РАБОТАЕТ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FF2FF"/>
                </a:solidFill>
              </a:defRPr>
            </a:pPr>
            <a:r>
              <a:t>Технологический стек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10789920" cy="4526280"/>
          </a:xfrm>
          <a:prstGeom prst="roundRect">
            <a:avLst/>
          </a:prstGeom>
          <a:solidFill>
            <a:srgbClr val="151A2E"/>
          </a:solidFill>
          <a:ln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200">
                <a:solidFill>
                  <a:srgbClr val="EFF2FF"/>
                </a:solidFill>
              </a:defRPr>
            </a:pPr>
            <a:r>
              <a:t>Frontend: React + Vite + Ant Design</a:t>
            </a:r>
          </a:p>
          <a:p>
            <a:pPr>
              <a:spcAft>
                <a:spcPts val="800"/>
              </a:spcAft>
              <a:defRPr sz="2200">
                <a:solidFill>
                  <a:srgbClr val="AEBBD6"/>
                </a:solidFill>
              </a:defRPr>
            </a:pPr>
            <a:r>
              <a:t>Math/Content: KaTeX, Markdown pipeline, Monaco Editor</a:t>
            </a:r>
          </a:p>
          <a:p>
            <a:pPr>
              <a:spcAft>
                <a:spcPts val="800"/>
              </a:spcAft>
              <a:defRPr sz="2200">
                <a:solidFill>
                  <a:srgbClr val="AEBBD6"/>
                </a:solidFill>
              </a:defRPr>
            </a:pPr>
            <a:r>
              <a:t>Backend: PocketBase, Express/Puppeteer, сервисная инфраструктура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241280" y="-640080"/>
            <a:ext cx="2926080" cy="2926080"/>
          </a:xfrm>
          <a:prstGeom prst="ellipse">
            <a:avLst/>
          </a:prstGeom>
          <a:solidFill>
            <a:srgbClr val="833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05840" y="4754880"/>
            <a:ext cx="2926080" cy="2926080"/>
          </a:xfrm>
          <a:prstGeom prst="ellipse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8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31089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006E"/>
                </a:solidFill>
              </a:defRPr>
            </a:pPr>
            <a:r>
              <a:t>КАК ЭТО РАБОТАЕТ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FF2FF"/>
                </a:solidFill>
              </a:defRPr>
            </a:pPr>
            <a:r>
              <a:t>База данных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10789920" cy="4526280"/>
          </a:xfrm>
          <a:prstGeom prst="roundRect">
            <a:avLst/>
          </a:prstGeom>
          <a:solidFill>
            <a:srgbClr val="151A2E"/>
          </a:solidFill>
          <a:ln>
            <a:solidFill>
              <a:srgbClr val="FF0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200">
                <a:solidFill>
                  <a:srgbClr val="EFF2FF"/>
                </a:solidFill>
              </a:defRPr>
            </a:pPr>
            <a:r>
              <a:t>PocketBase (SQLite): задачи, работы, попытки, ученики, достижения, теория</a:t>
            </a:r>
          </a:p>
          <a:p>
            <a:pPr>
              <a:spcAft>
                <a:spcPts val="800"/>
              </a:spcAft>
              <a:defRPr sz="2200">
                <a:solidFill>
                  <a:srgbClr val="AEBBD6"/>
                </a:solidFill>
              </a:defRPr>
            </a:pPr>
            <a:r>
              <a:t>Реляционные связи между коллекциями для сквозной аналитики</a:t>
            </a:r>
          </a:p>
          <a:p>
            <a:pPr>
              <a:spcAft>
                <a:spcPts val="800"/>
              </a:spcAft>
              <a:defRPr sz="2200">
                <a:solidFill>
                  <a:srgbClr val="AEBBD6"/>
                </a:solidFill>
              </a:defRPr>
            </a:pPr>
            <a:r>
              <a:t>Файлы, auth и API в одной платформе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241280" y="-640080"/>
            <a:ext cx="2926080" cy="2926080"/>
          </a:xfrm>
          <a:prstGeom prst="ellipse">
            <a:avLst/>
          </a:prstGeom>
          <a:solidFill>
            <a:srgbClr val="833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05840" y="4754880"/>
            <a:ext cx="2926080" cy="2926080"/>
          </a:xfrm>
          <a:prstGeom prst="ellipse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8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31089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8338EC"/>
                </a:solidFill>
              </a:defRPr>
            </a:pPr>
            <a:r>
              <a:t>КАК ЭТО РАБОТАЕТ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FF2FF"/>
                </a:solidFill>
              </a:defRPr>
            </a:pPr>
            <a:r>
              <a:t>Инфраструктура и деплой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10789920" cy="4526280"/>
          </a:xfrm>
          <a:prstGeom prst="roundRect">
            <a:avLst/>
          </a:prstGeom>
          <a:solidFill>
            <a:srgbClr val="151A2E"/>
          </a:solidFill>
          <a:ln>
            <a:solidFill>
              <a:srgbClr val="833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200">
                <a:solidFill>
                  <a:srgbClr val="EFF2FF"/>
                </a:solidFill>
              </a:defRPr>
            </a:pPr>
            <a:r>
              <a:t>Nginx + SSL, раздельные сервисы PocketBase/PDF/Telegram bot</a:t>
            </a:r>
          </a:p>
          <a:p>
            <a:pPr>
              <a:spcAft>
                <a:spcPts val="800"/>
              </a:spcAft>
              <a:defRPr sz="2200">
                <a:solidFill>
                  <a:srgbClr val="AEBBD6"/>
                </a:solidFill>
              </a:defRPr>
            </a:pPr>
            <a:r>
              <a:t>Systemd-оркестрация и мониторинг</a:t>
            </a:r>
          </a:p>
          <a:p>
            <a:pPr>
              <a:spcAft>
                <a:spcPts val="800"/>
              </a:spcAft>
              <a:defRPr sz="2200">
                <a:solidFill>
                  <a:srgbClr val="AEBBD6"/>
                </a:solidFill>
              </a:defRPr>
            </a:pPr>
            <a:r>
              <a:t>Автобэкапы и восстановление по скриптам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241280" y="-640080"/>
            <a:ext cx="2926080" cy="2926080"/>
          </a:xfrm>
          <a:prstGeom prst="ellipse">
            <a:avLst/>
          </a:prstGeom>
          <a:solidFill>
            <a:srgbClr val="833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05840" y="4754880"/>
            <a:ext cx="2926080" cy="2926080"/>
          </a:xfrm>
          <a:prstGeom prst="ellipse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8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31089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B5607"/>
                </a:solidFill>
              </a:defRPr>
            </a:pPr>
            <a:r>
              <a:t>КАК ЭТО РАБОТАЕТ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FF2FF"/>
                </a:solidFill>
              </a:defRPr>
            </a:pPr>
            <a:r>
              <a:t>API и эволюция версий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10789920" cy="4526280"/>
          </a:xfrm>
          <a:prstGeom prst="roundRect">
            <a:avLst/>
          </a:prstGeom>
          <a:solidFill>
            <a:srgbClr val="151A2E"/>
          </a:solidFill>
          <a:ln>
            <a:solidFill>
              <a:srgbClr val="FB56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200">
                <a:solidFill>
                  <a:srgbClr val="EFF2FF"/>
                </a:solidFill>
              </a:defRPr>
            </a:pPr>
            <a:r>
              <a:t>100+ API-методов по доменным модулям</a:t>
            </a:r>
          </a:p>
          <a:p>
            <a:pPr>
              <a:spcAft>
                <a:spcPts val="800"/>
              </a:spcAft>
              <a:defRPr sz="2200">
                <a:solidFill>
                  <a:srgbClr val="AEBBD6"/>
                </a:solidFill>
              </a:defRPr>
            </a:pPr>
            <a:r>
              <a:t>Планомерная эволюция от базового генератора до полной экосистемы</a:t>
            </a:r>
          </a:p>
          <a:p>
            <a:pPr>
              <a:spcAft>
                <a:spcPts val="800"/>
              </a:spcAft>
              <a:defRPr sz="2200">
                <a:solidFill>
                  <a:srgbClr val="AEBBD6"/>
                </a:solidFill>
              </a:defRPr>
            </a:pPr>
            <a:r>
              <a:t>Версионная история как дорожная карта развития продукта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241280" y="-640080"/>
            <a:ext cx="2926080" cy="2926080"/>
          </a:xfrm>
          <a:prstGeom prst="ellipse">
            <a:avLst/>
          </a:prstGeom>
          <a:solidFill>
            <a:srgbClr val="833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05840" y="4754880"/>
            <a:ext cx="2926080" cy="2926080"/>
          </a:xfrm>
          <a:prstGeom prst="ellipse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8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310896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F5D4"/>
                </a:solidFill>
              </a:defRPr>
            </a:pPr>
            <a:r>
              <a:t>ФИНАЛ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8686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FF2FF"/>
                </a:solidFill>
              </a:defRPr>
            </a:pPr>
            <a:r>
              <a:t>CTA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10789920" cy="4526280"/>
          </a:xfrm>
          <a:prstGeom prst="roundRect">
            <a:avLst/>
          </a:prstGeom>
          <a:solidFill>
            <a:srgbClr val="151A2E"/>
          </a:solidFill>
          <a:ln>
            <a:solidFill>
              <a:srgbClr val="00F5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200">
                <a:solidFill>
                  <a:srgbClr val="EFF2FF"/>
                </a:solidFill>
              </a:defRPr>
            </a:pPr>
            <a:r>
              <a:t>Платформа готова к использованию: от подготовки материала до контроля результатов</a:t>
            </a:r>
          </a:p>
          <a:p>
            <a:pPr>
              <a:spcAft>
                <a:spcPts val="800"/>
              </a:spcAft>
              <a:defRPr sz="2200">
                <a:solidFill>
                  <a:srgbClr val="AEBBD6"/>
                </a:solidFill>
              </a:defRPr>
            </a:pPr>
            <a:r>
              <a:t>Бесплатный запуск и подключение учеников по ссылке или QR</a:t>
            </a:r>
          </a:p>
          <a:p>
            <a:pPr>
              <a:spcAft>
                <a:spcPts val="800"/>
              </a:spcAft>
              <a:defRPr sz="2200">
                <a:solidFill>
                  <a:srgbClr val="AEBBD6"/>
                </a:solidFill>
              </a:defRPr>
            </a:pPr>
            <a:r>
              <a:t>Следующий шаг: демо на реальном классе и запуск пилота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